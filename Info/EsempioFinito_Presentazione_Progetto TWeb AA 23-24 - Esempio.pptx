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Bit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itter-bold.fntdata"/><Relationship Id="rId11" Type="http://schemas.openxmlformats.org/officeDocument/2006/relationships/slide" Target="slides/slide6.xml"/><Relationship Id="rId22" Type="http://schemas.openxmlformats.org/officeDocument/2006/relationships/font" Target="fonts/Bitter-boldItalic.fntdata"/><Relationship Id="rId10" Type="http://schemas.openxmlformats.org/officeDocument/2006/relationships/slide" Target="slides/slide5.xml"/><Relationship Id="rId21" Type="http://schemas.openxmlformats.org/officeDocument/2006/relationships/font" Target="fonts/Bitter-italic.fntdata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Bitter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e244ebecb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e244ebecb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e244ebecb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ae244ebecb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e244ebecb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e244ebecb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e244ebecb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e244ebecb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e244ebecb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ae244ebecb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e244ebecb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ae244ebecb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513438" y="8309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0" y="710425"/>
            <a:ext cx="5783400" cy="19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RpgPC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Progetto TWeb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AA 23-24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Claudia Picardi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7FFF6"/>
              </a:buClr>
              <a:buSzPts val="1800"/>
              <a:buAutoNum type="arabicPeriod"/>
            </a:pPr>
            <a:r>
              <a:rPr lang="it">
                <a:solidFill>
                  <a:srgbClr val="97FFF6"/>
                </a:solidFill>
              </a:rPr>
              <a:t>Tecnologie Utilizzate</a:t>
            </a:r>
            <a:endParaRPr>
              <a:solidFill>
                <a:srgbClr val="97FFF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7FFF6"/>
              </a:buClr>
              <a:buSzPts val="1400"/>
              <a:buChar char="○"/>
            </a:pPr>
            <a:r>
              <a:rPr lang="it"/>
              <a:t>Linguaggio di programmazione: Typescript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7FFF6"/>
              </a:buClr>
              <a:buSzPts val="1400"/>
              <a:buChar char="○"/>
            </a:pPr>
            <a:r>
              <a:rPr lang="it"/>
              <a:t>Framework: Vite + React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non sono stati usati altri moduli, package o librerie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7FFF6"/>
              </a:buClr>
              <a:buSzPts val="1800"/>
              <a:buAutoNum type="arabicPeriod"/>
            </a:pPr>
            <a:r>
              <a:rPr lang="it">
                <a:solidFill>
                  <a:srgbClr val="97FFF6"/>
                </a:solidFill>
              </a:rPr>
              <a:t>Single-Page-Application o Multi Page?</a:t>
            </a:r>
            <a:endParaRPr>
              <a:solidFill>
                <a:srgbClr val="97FFF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RpgPC è una Single-Page-Application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Front-end: caratteristiche di base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Front-end: componenti UI</a:t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550" y="830975"/>
            <a:ext cx="7599749" cy="42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Front-end: UI e modello dati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550" y="830975"/>
            <a:ext cx="7599749" cy="42117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621700" y="1459475"/>
            <a:ext cx="952500" cy="41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Roboto"/>
                <a:ea typeface="Roboto"/>
                <a:cs typeface="Roboto"/>
                <a:sym typeface="Roboto"/>
              </a:rPr>
              <a:t>lettura: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"/>
                <a:ea typeface="Roboto"/>
                <a:cs typeface="Roboto"/>
                <a:sym typeface="Roboto"/>
              </a:rPr>
              <a:t>dati utente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41700" y="3599025"/>
            <a:ext cx="2203500" cy="828900"/>
          </a:xfrm>
          <a:prstGeom prst="wedgeRoundRectCallout">
            <a:avLst>
              <a:gd fmla="val 32631" name="adj1"/>
              <a:gd fmla="val -14401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Roboto"/>
                <a:ea typeface="Roboto"/>
                <a:cs typeface="Roboto"/>
                <a:sym typeface="Roboto"/>
              </a:rPr>
              <a:t>lettura e modifica: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"/>
                <a:ea typeface="Roboto"/>
                <a:cs typeface="Roboto"/>
                <a:sym typeface="Roboto"/>
              </a:rPr>
              <a:t>elenco dei parties dell’utente, dati complessivi di ciascun party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834050" y="3002350"/>
            <a:ext cx="1806600" cy="1014600"/>
          </a:xfrm>
          <a:prstGeom prst="wedgeRoundRectCallout">
            <a:avLst>
              <a:gd fmla="val -19029" name="adj1"/>
              <a:gd fmla="val -7777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Roboto"/>
                <a:ea typeface="Roboto"/>
                <a:cs typeface="Roboto"/>
                <a:sym typeface="Roboto"/>
              </a:rPr>
              <a:t>lettura e modifica: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"/>
                <a:ea typeface="Roboto"/>
                <a:cs typeface="Roboto"/>
                <a:sym typeface="Roboto"/>
              </a:rPr>
              <a:t>elenco dei personaggi e dati di ciascun personaggio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000775" y="1161875"/>
            <a:ext cx="2203500" cy="828900"/>
          </a:xfrm>
          <a:prstGeom prst="wedgeRoundRectCallout">
            <a:avLst>
              <a:gd fmla="val -28780" name="adj1"/>
              <a:gd fmla="val 9444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Roboto"/>
                <a:ea typeface="Roboto"/>
                <a:cs typeface="Roboto"/>
                <a:sym typeface="Roboto"/>
              </a:rPr>
              <a:t>lettura: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"/>
                <a:ea typeface="Roboto"/>
                <a:cs typeface="Roboto"/>
                <a:sym typeface="Roboto"/>
              </a:rPr>
              <a:t>dati complessivi del party selezionato, elenco completo dei personaggi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510550" y="3981600"/>
            <a:ext cx="1062900" cy="828900"/>
          </a:xfrm>
          <a:prstGeom prst="wedgeRoundRectCallout">
            <a:avLst>
              <a:gd fmla="val -26679" name="adj1"/>
              <a:gd fmla="val -7136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Roboto"/>
                <a:ea typeface="Roboto"/>
                <a:cs typeface="Roboto"/>
                <a:sym typeface="Roboto"/>
              </a:rPr>
              <a:t>lettura: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"/>
                <a:ea typeface="Roboto"/>
                <a:cs typeface="Roboto"/>
                <a:sym typeface="Roboto"/>
              </a:rPr>
              <a:t>membri del party selezionato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626325" y="4116225"/>
            <a:ext cx="1806600" cy="828900"/>
          </a:xfrm>
          <a:prstGeom prst="wedgeRoundRectCallout">
            <a:avLst>
              <a:gd fmla="val -14811" name="adj1"/>
              <a:gd fmla="val -8760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Roboto"/>
                <a:ea typeface="Roboto"/>
                <a:cs typeface="Roboto"/>
                <a:sym typeface="Roboto"/>
              </a:rPr>
              <a:t>scrittura</a:t>
            </a:r>
            <a:r>
              <a:rPr b="1" lang="it" sz="1000"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"/>
                <a:ea typeface="Roboto"/>
                <a:cs typeface="Roboto"/>
                <a:sym typeface="Roboto"/>
              </a:rPr>
              <a:t>membri del party selezionato, elenco globale dei personaggi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7651075" y="4017025"/>
            <a:ext cx="1204800" cy="828900"/>
          </a:xfrm>
          <a:prstGeom prst="wedgeRoundRectCallout">
            <a:avLst>
              <a:gd fmla="val -26679" name="adj1"/>
              <a:gd fmla="val -7136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Roboto"/>
                <a:ea typeface="Roboto"/>
                <a:cs typeface="Roboto"/>
                <a:sym typeface="Roboto"/>
              </a:rPr>
              <a:t>lettura: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Roboto"/>
                <a:ea typeface="Roboto"/>
                <a:cs typeface="Roboto"/>
                <a:sym typeface="Roboto"/>
              </a:rPr>
              <a:t>dettagli del personaggio selezionato</a:t>
            </a:r>
            <a:r>
              <a:rPr lang="it" sz="1200"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Back-End: struttura</a:t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6791101" y="188137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RPGCharacter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Servlet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6791101" y="2696150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RPGParty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Servlet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6791101" y="351092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RPGLogin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Servlet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263525" y="1267325"/>
            <a:ext cx="9270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E5FF3C"/>
                </a:solidFill>
                <a:latin typeface="Roboto"/>
                <a:ea typeface="Roboto"/>
                <a:cs typeface="Roboto"/>
                <a:sym typeface="Roboto"/>
              </a:rPr>
              <a:t>Servlet</a:t>
            </a:r>
            <a:endParaRPr sz="1800">
              <a:solidFill>
                <a:srgbClr val="E5FF3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989275" y="188137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PoolingContext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Listener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203150" y="1267325"/>
            <a:ext cx="15063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E5FF3C"/>
                </a:solidFill>
                <a:latin typeface="Roboto"/>
                <a:ea typeface="Roboto"/>
                <a:cs typeface="Roboto"/>
                <a:sym typeface="Roboto"/>
              </a:rPr>
              <a:t>Listeners</a:t>
            </a:r>
            <a:endParaRPr sz="1800">
              <a:solidFill>
                <a:srgbClr val="E5FF3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5FF3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841164" y="1881375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Auth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Filter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841164" y="2696150"/>
            <a:ext cx="2049900" cy="710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Cors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Filter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055075" y="1267325"/>
            <a:ext cx="15063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E5FF3C"/>
                </a:solidFill>
                <a:latin typeface="Roboto"/>
                <a:ea typeface="Roboto"/>
                <a:cs typeface="Roboto"/>
                <a:sym typeface="Roboto"/>
              </a:rPr>
              <a:t>Filters</a:t>
            </a:r>
            <a:endParaRPr sz="1800">
              <a:solidFill>
                <a:srgbClr val="E5FF3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5FF3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159300" y="957450"/>
            <a:ext cx="4408500" cy="16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7FFF6"/>
                </a:solidFill>
              </a:rPr>
              <a:t>RPGLoginServlet</a:t>
            </a:r>
            <a:endParaRPr>
              <a:solidFill>
                <a:srgbClr val="B9FFF9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GET /login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GET /logout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POST /login (body: username + password)</a:t>
            </a:r>
            <a:endParaRPr sz="1500"/>
          </a:p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Back-End: routes</a:t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159300" y="2635525"/>
            <a:ext cx="6681000" cy="2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97FFF6"/>
                </a:solidFill>
                <a:latin typeface="Roboto"/>
                <a:ea typeface="Roboto"/>
                <a:cs typeface="Roboto"/>
                <a:sym typeface="Roboto"/>
              </a:rPr>
              <a:t>RPGPartyServlet</a:t>
            </a:r>
            <a:endParaRPr sz="1800">
              <a:solidFill>
                <a:srgbClr val="97FFF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it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GET /parties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it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GET /parties?shortname=...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it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 /parties (body: un Party)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it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DELETE /parties?shortname=...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it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PUT /parties?shortname=... (body: un Party)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it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PUT /parties/member/add (body: Party shortname + Character id)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it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PUT /parties/member/remove (body: Party shortname + Character id)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4838975" y="957450"/>
            <a:ext cx="4184100" cy="25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7FFF6"/>
                </a:solidFill>
              </a:rPr>
              <a:t>RPGCharacterServlet</a:t>
            </a:r>
            <a:endParaRPr>
              <a:solidFill>
                <a:srgbClr val="B9FFF9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GET /characters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GET /characters?id=...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POST /characters (body: un Character)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DELETE /characters?id=...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it" sz="1500"/>
              <a:t>PUT /characters?id=... (body: un Party)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Back-End: DB</a:t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188700" y="988700"/>
            <a:ext cx="2815200" cy="1313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users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Bitter"/>
                <a:ea typeface="Bitter"/>
                <a:cs typeface="Bitter"/>
                <a:sym typeface="Bitter"/>
              </a:rPr>
              <a:t>- </a:t>
            </a:r>
            <a:r>
              <a:rPr lang="it" sz="1300">
                <a:latin typeface="Bitter"/>
                <a:ea typeface="Bitter"/>
                <a:cs typeface="Bitter"/>
                <a:sym typeface="Bitter"/>
              </a:rPr>
              <a:t>username: varchar (primary key)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Bitter"/>
                <a:ea typeface="Bitter"/>
                <a:cs typeface="Bitter"/>
                <a:sym typeface="Bitter"/>
              </a:rPr>
              <a:t>- name: varchar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Bitter"/>
                <a:ea typeface="Bitter"/>
                <a:cs typeface="Bitter"/>
                <a:sym typeface="Bitter"/>
              </a:rPr>
              <a:t>- surname: varchar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Bitter"/>
                <a:ea typeface="Bitter"/>
                <a:cs typeface="Bitter"/>
                <a:sym typeface="Bitter"/>
              </a:rPr>
              <a:t>- password: varchar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353475" y="988700"/>
            <a:ext cx="3176400" cy="903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party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Bitter"/>
                <a:ea typeface="Bitter"/>
                <a:cs typeface="Bitter"/>
                <a:sym typeface="Bitter"/>
              </a:rPr>
              <a:t>- </a:t>
            </a:r>
            <a:r>
              <a:rPr lang="it" sz="1300">
                <a:latin typeface="Bitter"/>
                <a:ea typeface="Bitter"/>
                <a:cs typeface="Bitter"/>
                <a:sym typeface="Bitter"/>
              </a:rPr>
              <a:t>shortname: varchar</a:t>
            </a:r>
            <a:r>
              <a:rPr lang="it" sz="1300">
                <a:latin typeface="Bitter"/>
                <a:ea typeface="Bitter"/>
                <a:cs typeface="Bitter"/>
                <a:sym typeface="Bitter"/>
              </a:rPr>
              <a:t> (primary key)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Bitter"/>
                <a:ea typeface="Bitter"/>
                <a:cs typeface="Bitter"/>
                <a:sym typeface="Bitter"/>
              </a:rPr>
              <a:t>- name: varchar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3344400" y="905650"/>
            <a:ext cx="2057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B9FFF9"/>
                </a:solidFill>
                <a:latin typeface="Bitter"/>
                <a:ea typeface="Bitter"/>
                <a:cs typeface="Bitter"/>
                <a:sym typeface="Bitter"/>
              </a:rPr>
              <a:t>owner: username</a:t>
            </a:r>
            <a:endParaRPr>
              <a:solidFill>
                <a:srgbClr val="B9FFF9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cxnSp>
        <p:nvCxnSpPr>
          <p:cNvPr id="120" name="Google Shape;120;p19"/>
          <p:cNvCxnSpPr/>
          <p:nvPr/>
        </p:nvCxnSpPr>
        <p:spPr>
          <a:xfrm flipH="1">
            <a:off x="3028500" y="1236350"/>
            <a:ext cx="2323500" cy="3600"/>
          </a:xfrm>
          <a:prstGeom prst="straightConnector1">
            <a:avLst/>
          </a:prstGeom>
          <a:noFill/>
          <a:ln cap="flat" cmpd="sng" w="28575">
            <a:solidFill>
              <a:srgbClr val="FFF2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19"/>
          <p:cNvSpPr/>
          <p:nvPr/>
        </p:nvSpPr>
        <p:spPr>
          <a:xfrm>
            <a:off x="188700" y="3244350"/>
            <a:ext cx="2468100" cy="1593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characters</a:t>
            </a:r>
            <a:endParaRPr b="1" sz="180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Bitter"/>
                <a:ea typeface="Bitter"/>
                <a:cs typeface="Bitter"/>
                <a:sym typeface="Bitter"/>
              </a:rPr>
              <a:t>- </a:t>
            </a:r>
            <a:r>
              <a:rPr lang="it" sz="1300">
                <a:latin typeface="Bitter"/>
                <a:ea typeface="Bitter"/>
                <a:cs typeface="Bitter"/>
                <a:sym typeface="Bitter"/>
              </a:rPr>
              <a:t>id: number</a:t>
            </a:r>
            <a:r>
              <a:rPr lang="it" sz="1300">
                <a:latin typeface="Bitter"/>
                <a:ea typeface="Bitter"/>
                <a:cs typeface="Bitter"/>
                <a:sym typeface="Bitter"/>
              </a:rPr>
              <a:t> (primary key)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Bitter"/>
                <a:ea typeface="Bitter"/>
                <a:cs typeface="Bitter"/>
                <a:sym typeface="Bitter"/>
              </a:rPr>
              <a:t>- name: varchar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Bitter"/>
                <a:ea typeface="Bitter"/>
                <a:cs typeface="Bitter"/>
                <a:sym typeface="Bitter"/>
              </a:rPr>
              <a:t>- level: number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Bitter"/>
                <a:ea typeface="Bitter"/>
                <a:cs typeface="Bitter"/>
                <a:sym typeface="Bitter"/>
              </a:rPr>
              <a:t>- description: text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Bitter"/>
                <a:ea typeface="Bitter"/>
                <a:cs typeface="Bitter"/>
                <a:sym typeface="Bitter"/>
              </a:rPr>
              <a:t>- rpgclass: varchar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5720075" y="3802850"/>
            <a:ext cx="2468100" cy="481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partymembers</a:t>
            </a:r>
            <a:endParaRPr sz="1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Bitter"/>
              <a:ea typeface="Bitter"/>
              <a:cs typeface="Bitter"/>
              <a:sym typeface="Bitter"/>
            </a:endParaRPr>
          </a:p>
        </p:txBody>
      </p:sp>
      <p:cxnSp>
        <p:nvCxnSpPr>
          <p:cNvPr id="123" name="Google Shape;123;p19"/>
          <p:cNvCxnSpPr/>
          <p:nvPr/>
        </p:nvCxnSpPr>
        <p:spPr>
          <a:xfrm rot="10800000">
            <a:off x="7780025" y="1891425"/>
            <a:ext cx="0" cy="1908900"/>
          </a:xfrm>
          <a:prstGeom prst="straightConnector1">
            <a:avLst/>
          </a:prstGeom>
          <a:noFill/>
          <a:ln cap="flat" cmpd="sng" w="28575">
            <a:solidFill>
              <a:srgbClr val="FFF2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9"/>
          <p:cNvSpPr txBox="1"/>
          <p:nvPr/>
        </p:nvSpPr>
        <p:spPr>
          <a:xfrm>
            <a:off x="5547525" y="2551925"/>
            <a:ext cx="2323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B9FFF9"/>
                </a:solidFill>
                <a:latin typeface="Bitter"/>
                <a:ea typeface="Bitter"/>
                <a:cs typeface="Bitter"/>
                <a:sym typeface="Bitter"/>
              </a:rPr>
              <a:t>party_name</a:t>
            </a:r>
            <a:r>
              <a:rPr lang="it">
                <a:solidFill>
                  <a:srgbClr val="B9FFF9"/>
                </a:solidFill>
                <a:latin typeface="Bitter"/>
                <a:ea typeface="Bitter"/>
                <a:cs typeface="Bitter"/>
                <a:sym typeface="Bitter"/>
              </a:rPr>
              <a:t>: shortname</a:t>
            </a:r>
            <a:endParaRPr>
              <a:solidFill>
                <a:srgbClr val="B9FFF9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cxnSp>
        <p:nvCxnSpPr>
          <p:cNvPr id="125" name="Google Shape;125;p19"/>
          <p:cNvCxnSpPr>
            <a:stCxn id="122" idx="1"/>
            <a:endCxn id="121" idx="3"/>
          </p:cNvCxnSpPr>
          <p:nvPr/>
        </p:nvCxnSpPr>
        <p:spPr>
          <a:xfrm rot="10800000">
            <a:off x="2656775" y="4040750"/>
            <a:ext cx="3063300" cy="2700"/>
          </a:xfrm>
          <a:prstGeom prst="straightConnector1">
            <a:avLst/>
          </a:prstGeom>
          <a:noFill/>
          <a:ln cap="flat" cmpd="sng" w="28575">
            <a:solidFill>
              <a:srgbClr val="FFF2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9"/>
          <p:cNvSpPr txBox="1"/>
          <p:nvPr/>
        </p:nvSpPr>
        <p:spPr>
          <a:xfrm>
            <a:off x="3611700" y="3678650"/>
            <a:ext cx="2323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B9FFF9"/>
                </a:solidFill>
                <a:latin typeface="Bitter"/>
                <a:ea typeface="Bitter"/>
                <a:cs typeface="Bitter"/>
                <a:sym typeface="Bitter"/>
              </a:rPr>
              <a:t>character_id</a:t>
            </a:r>
            <a:r>
              <a:rPr lang="it">
                <a:solidFill>
                  <a:srgbClr val="B9FFF9"/>
                </a:solidFill>
                <a:latin typeface="Bitter"/>
                <a:ea typeface="Bitter"/>
                <a:cs typeface="Bitter"/>
                <a:sym typeface="Bitter"/>
              </a:rPr>
              <a:t>: id</a:t>
            </a:r>
            <a:endParaRPr>
              <a:solidFill>
                <a:srgbClr val="B9FFF9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