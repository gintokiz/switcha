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Slab"/>
      <p:regular r:id="rId14"/>
      <p:bold r:id="rId15"/>
    </p:embeddedFont>
    <p:embeddedFont>
      <p:font typeface="Roboto"/>
      <p:regular r:id="rId16"/>
      <p:bold r:id="rId17"/>
      <p:italic r:id="rId18"/>
      <p:boldItalic r:id="rId19"/>
    </p:embeddedFont>
    <p:embeddedFont>
      <p:font typeface="Bitt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itter-regular.fntdata"/><Relationship Id="rId11" Type="http://schemas.openxmlformats.org/officeDocument/2006/relationships/slide" Target="slides/slide6.xml"/><Relationship Id="rId22" Type="http://schemas.openxmlformats.org/officeDocument/2006/relationships/font" Target="fonts/Bitter-italic.fntdata"/><Relationship Id="rId10" Type="http://schemas.openxmlformats.org/officeDocument/2006/relationships/slide" Target="slides/slide5.xml"/><Relationship Id="rId21" Type="http://schemas.openxmlformats.org/officeDocument/2006/relationships/font" Target="fonts/Bitter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Bit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Slab-bold.fntdata"/><Relationship Id="rId14" Type="http://schemas.openxmlformats.org/officeDocument/2006/relationships/font" Target="fonts/RobotoSlab-regular.fntdata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ae244ebecb_0_1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ae244ebecb_0_1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ae244ebecb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ae244ebecb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ae244ebecb_0_1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ae244ebecb_0_1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ae244ebecb_0_1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ae244ebecb_0_1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ae244ebecb_0_1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ae244ebecb_0_1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ae244ebecb_0_1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ae244ebecb_0_1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ae244ebecb_0_1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ae244ebecb_0_1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513438" y="8309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1448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5FF3C"/>
              </a:buClr>
              <a:buSzPts val="3000"/>
              <a:buNone/>
              <a:defRPr>
                <a:solidFill>
                  <a:srgbClr val="E5FF3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5FF3C"/>
              </a:buClr>
              <a:buSzPts val="3000"/>
              <a:buNone/>
              <a:defRPr>
                <a:solidFill>
                  <a:srgbClr val="E5FF3C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5FF3C"/>
              </a:buClr>
              <a:buSzPts val="3000"/>
              <a:buNone/>
              <a:defRPr>
                <a:solidFill>
                  <a:srgbClr val="E5FF3C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5FF3C"/>
              </a:buClr>
              <a:buSzPts val="3000"/>
              <a:buNone/>
              <a:defRPr>
                <a:solidFill>
                  <a:srgbClr val="E5FF3C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5FF3C"/>
              </a:buClr>
              <a:buSzPts val="3000"/>
              <a:buNone/>
              <a:defRPr>
                <a:solidFill>
                  <a:srgbClr val="E5FF3C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5FF3C"/>
              </a:buClr>
              <a:buSzPts val="3000"/>
              <a:buNone/>
              <a:defRPr>
                <a:solidFill>
                  <a:srgbClr val="E5FF3C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5FF3C"/>
              </a:buClr>
              <a:buSzPts val="3000"/>
              <a:buNone/>
              <a:defRPr>
                <a:solidFill>
                  <a:srgbClr val="E5FF3C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5FF3C"/>
              </a:buClr>
              <a:buSzPts val="3000"/>
              <a:buNone/>
              <a:defRPr>
                <a:solidFill>
                  <a:srgbClr val="E5FF3C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5FF3C"/>
              </a:buClr>
              <a:buSzPts val="3000"/>
              <a:buNone/>
              <a:defRPr>
                <a:solidFill>
                  <a:srgbClr val="E5FF3C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957450"/>
            <a:ext cx="8368200" cy="40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0" y="757550"/>
            <a:ext cx="5783400" cy="188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Titolo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Progetto TWeb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AA 23-24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Autore o Autori del Progetto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87900" y="957450"/>
            <a:ext cx="8368200" cy="40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7FFF6"/>
              </a:buClr>
              <a:buSzPts val="1800"/>
              <a:buAutoNum type="arabicPeriod"/>
            </a:pPr>
            <a:r>
              <a:rPr lang="it">
                <a:solidFill>
                  <a:srgbClr val="97FFF6"/>
                </a:solidFill>
              </a:rPr>
              <a:t>Tecnologie Utilizzate</a:t>
            </a:r>
            <a:endParaRPr>
              <a:solidFill>
                <a:srgbClr val="97FFF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97FFF6"/>
              </a:buClr>
              <a:buSzPts val="1800"/>
              <a:buAutoNum type="arabicPeriod"/>
            </a:pPr>
            <a:r>
              <a:rPr lang="it">
                <a:solidFill>
                  <a:srgbClr val="97FFF6"/>
                </a:solidFill>
              </a:rPr>
              <a:t>Single-Page-Application o Multi Page?</a:t>
            </a:r>
            <a:endParaRPr>
              <a:solidFill>
                <a:srgbClr val="97FFF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Multi Page elencare le pagine che costituiscono l’applicazione indicando molto brevemente a cosa sono dedicate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>
            <p:ph type="title"/>
          </p:nvPr>
        </p:nvSpPr>
        <p:spPr>
          <a:xfrm>
            <a:off x="387900" y="1448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Front-end: caratteristiche di base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1448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Front-end: componenti UI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87900" y="957450"/>
            <a:ext cx="8368200" cy="40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Inserite qui uno schema dei componenti della UI.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Se vi serve avere più schemi (perché avete troppi componenti) potete mettere più slide dedicate a questo tema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87900" y="1448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Front-end: UI e modello dati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87900" y="957450"/>
            <a:ext cx="8368200" cy="40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Partendo dallo schema della slide precedente, indicate quale o quali parti del modello dati sono utilizzate da ciascun componente. Se volete potete distinguere fra dati </a:t>
            </a:r>
            <a:r>
              <a:rPr b="1" lang="it"/>
              <a:t>visualizzati</a:t>
            </a:r>
            <a:r>
              <a:rPr lang="it"/>
              <a:t> e dati </a:t>
            </a:r>
            <a:r>
              <a:rPr b="1" lang="it"/>
              <a:t>modificati</a:t>
            </a:r>
            <a:r>
              <a:rPr lang="it"/>
              <a:t> dal componente, in caso questa distinzione vi sembri utile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87900" y="957450"/>
            <a:ext cx="8368200" cy="40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Rappresentazione grafica della struttura del vostro back-end, a voce le (brevi) spiegazioni del caso</a:t>
            </a:r>
            <a:endParaRPr/>
          </a:p>
        </p:txBody>
      </p:sp>
      <p:sp>
        <p:nvSpPr>
          <p:cNvPr id="88" name="Google Shape;88;p17"/>
          <p:cNvSpPr txBox="1"/>
          <p:nvPr>
            <p:ph type="title"/>
          </p:nvPr>
        </p:nvSpPr>
        <p:spPr>
          <a:xfrm>
            <a:off x="387900" y="1448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Back-End: struttura</a:t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6791101" y="2414775"/>
            <a:ext cx="2049900" cy="710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Servlet 1</a:t>
            </a:r>
            <a:endParaRPr b="1" sz="1800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6791101" y="3229550"/>
            <a:ext cx="2049900" cy="710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Servlet 2</a:t>
            </a:r>
            <a:endParaRPr b="1" sz="1800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6791101" y="4044325"/>
            <a:ext cx="2049900" cy="710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….</a:t>
            </a:r>
            <a:endParaRPr b="1" sz="1800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6833250" y="1800725"/>
            <a:ext cx="17877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E5FF3C"/>
                </a:solidFill>
                <a:latin typeface="Roboto"/>
                <a:ea typeface="Roboto"/>
                <a:cs typeface="Roboto"/>
                <a:sym typeface="Roboto"/>
              </a:rPr>
              <a:t>Repositories</a:t>
            </a:r>
            <a:endParaRPr sz="1800">
              <a:solidFill>
                <a:srgbClr val="E5FF3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989275" y="2414775"/>
            <a:ext cx="2049900" cy="710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Listener</a:t>
            </a: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 1</a:t>
            </a:r>
            <a:endParaRPr b="1" sz="1800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989275" y="3229550"/>
            <a:ext cx="2049900" cy="710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Listener</a:t>
            </a: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 2</a:t>
            </a:r>
            <a:endParaRPr b="1" sz="1800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989275" y="4044325"/>
            <a:ext cx="2049900" cy="710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….</a:t>
            </a:r>
            <a:endParaRPr b="1" sz="1800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1203150" y="1800725"/>
            <a:ext cx="15063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E5FF3C"/>
                </a:solidFill>
                <a:latin typeface="Roboto"/>
                <a:ea typeface="Roboto"/>
                <a:cs typeface="Roboto"/>
                <a:sym typeface="Roboto"/>
              </a:rPr>
              <a:t>Controllers</a:t>
            </a:r>
            <a:endParaRPr sz="1100">
              <a:solidFill>
                <a:srgbClr val="E5FF3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3841164" y="2414775"/>
            <a:ext cx="2049900" cy="710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Filter</a:t>
            </a: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 1</a:t>
            </a:r>
            <a:endParaRPr b="1" sz="1800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3841164" y="3229550"/>
            <a:ext cx="2049900" cy="710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Filter</a:t>
            </a: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 2</a:t>
            </a:r>
            <a:endParaRPr b="1" sz="1800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3841164" y="4044325"/>
            <a:ext cx="2049900" cy="710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….</a:t>
            </a:r>
            <a:endParaRPr b="1" sz="1800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4055075" y="1800725"/>
            <a:ext cx="15063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E5FF3C"/>
                </a:solidFill>
                <a:latin typeface="Roboto"/>
                <a:ea typeface="Roboto"/>
                <a:cs typeface="Roboto"/>
                <a:sym typeface="Roboto"/>
              </a:rPr>
              <a:t>Services</a:t>
            </a:r>
            <a:endParaRPr sz="1100">
              <a:solidFill>
                <a:srgbClr val="E5FF3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387900" y="957450"/>
            <a:ext cx="8368200" cy="40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Indicate quali route sono attivate per ciascun Controller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7FFF6"/>
                </a:solidFill>
              </a:rPr>
              <a:t>Servlet 1:</a:t>
            </a:r>
            <a:endParaRPr>
              <a:solidFill>
                <a:srgbClr val="B9FFF9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it" sz="1500"/>
              <a:t>route 1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it" sz="1500"/>
              <a:t>…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7FFF6"/>
                </a:solidFill>
              </a:rPr>
              <a:t>Servlet 2:</a:t>
            </a:r>
            <a:endParaRPr>
              <a:solidFill>
                <a:srgbClr val="97FFF6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it" sz="1500"/>
              <a:t>route 1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it" sz="1500"/>
              <a:t>…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7FFF6"/>
                </a:solidFill>
              </a:rPr>
              <a:t>Servlet 3: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it" sz="1500"/>
              <a:t>route 1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it" sz="1500"/>
              <a:t>…</a:t>
            </a:r>
            <a:endParaRPr sz="1500"/>
          </a:p>
        </p:txBody>
      </p:sp>
      <p:sp>
        <p:nvSpPr>
          <p:cNvPr id="106" name="Google Shape;106;p18"/>
          <p:cNvSpPr txBox="1"/>
          <p:nvPr>
            <p:ph type="title"/>
          </p:nvPr>
        </p:nvSpPr>
        <p:spPr>
          <a:xfrm>
            <a:off x="387900" y="1448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Back-End: routes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87900" y="1448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Back-End: DB</a:t>
            </a:r>
            <a:endParaRPr/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387900" y="957450"/>
            <a:ext cx="8368200" cy="40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Rappresentazione concettuale del vostro DB: può essere un diagramma E-R o un altro tipo di raffigurazione grafica, l’importante è che si capisca quali sono le tabelle, come sono i record di ciascuna e come si collegano fra loro  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87900" y="1448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Note Particolari (opzionale)</a:t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387900" y="957450"/>
            <a:ext cx="8368200" cy="40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 avete qualcosa di particolare che volete evidenziare della vostra app, relativa al front-end o al back-end, max 1 slide (questa).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Ma non è obbligatoria!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